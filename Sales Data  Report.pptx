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8C14145-C983-4BD2-9D8C-58B22D2B40D6}">
          <p14:sldIdLst/>
        </p14:section>
        <p14:section name="Untitled Section" id="{E8D9134E-C130-487C-A536-14ABCA5A27E6}">
          <p14:sldIdLst/>
        </p14:section>
        <p14:section name="Untitled Section" id="{A3AEB827-3D41-4BE4-B18C-A2722BF9CC5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ownloads\Interview%20Test\1.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ownloads\Interview%20Test\1.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ownloads\Interview%20Test\1.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ownloads\Interview%20Test\1.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ownloads\Interview%20Test\1.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ownloads\6%20que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rsonal\Downloads\9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4588576"/>
        <c:axId val="16073832"/>
      </c:barChart>
      <c:catAx>
        <c:axId val="234588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73832"/>
        <c:crosses val="autoZero"/>
        <c:auto val="1"/>
        <c:lblAlgn val="ctr"/>
        <c:lblOffset val="100"/>
        <c:noMultiLvlLbl val="0"/>
      </c:catAx>
      <c:valAx>
        <c:axId val="16073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588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Total_revenue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'1.'!$B$1</c:f>
              <c:strCache>
                <c:ptCount val="1"/>
                <c:pt idx="0">
                  <c:v>total_revenue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4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'1.'!$A$2:$A$4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'1.'!$B$2:$B$4</c:f>
              <c:numCache>
                <c:formatCode>General</c:formatCode>
                <c:ptCount val="3"/>
                <c:pt idx="0">
                  <c:v>293471.65999999898</c:v>
                </c:pt>
                <c:pt idx="1">
                  <c:v>288037.86999999901</c:v>
                </c:pt>
                <c:pt idx="2">
                  <c:v>286164.47999999899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34368872"/>
        <c:axId val="234369256"/>
      </c:barChart>
      <c:catAx>
        <c:axId val="234368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369256"/>
        <c:crosses val="autoZero"/>
        <c:auto val="1"/>
        <c:lblAlgn val="ctr"/>
        <c:lblOffset val="100"/>
        <c:noMultiLvlLbl val="0"/>
      </c:catAx>
      <c:valAx>
        <c:axId val="234369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368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Total_Unitsold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cap="all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chemeClr val="bg2">
            <a:lumMod val="75000"/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'1.'!$B$1</c:f>
              <c:strCache>
                <c:ptCount val="1"/>
                <c:pt idx="0">
                  <c:v>total_Unitsold</c:v>
                </c:pt>
              </c:strCache>
            </c:strRef>
          </c:tx>
          <c:spPr>
            <a:solidFill>
              <a:schemeClr val="accent1">
                <a:alpha val="88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flat">
              <a:contourClr>
                <a:schemeClr val="accent1">
                  <a:lumMod val="50000"/>
                </a:schemeClr>
              </a:contourClr>
            </a:sp3d>
          </c:spPr>
          <c:invertIfNegative val="0"/>
          <c:dLbls>
            <c:spPr>
              <a:solidFill>
                <a:schemeClr val="accent1">
                  <a:alpha val="30000"/>
                </a:schemeClr>
              </a:solidFill>
              <a:ln>
                <a:solidFill>
                  <a:schemeClr val="lt1">
                    <a:alpha val="50000"/>
                  </a:scheme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'1.'!$A$2:$A$4</c:f>
              <c:strCache>
                <c:ptCount val="3"/>
                <c:pt idx="0">
                  <c:v>Pistachios</c:v>
                </c:pt>
                <c:pt idx="1">
                  <c:v>Walnuts</c:v>
                </c:pt>
                <c:pt idx="2">
                  <c:v>Cashews</c:v>
                </c:pt>
              </c:strCache>
            </c:strRef>
          </c:cat>
          <c:val>
            <c:numRef>
              <c:f>'1.'!$B$2:$B$4</c:f>
              <c:numCache>
                <c:formatCode>General</c:formatCode>
                <c:ptCount val="3"/>
                <c:pt idx="0">
                  <c:v>14699</c:v>
                </c:pt>
                <c:pt idx="1">
                  <c:v>14474</c:v>
                </c:pt>
                <c:pt idx="2">
                  <c:v>13925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4"/>
        <c:gapDepth val="53"/>
        <c:shape val="box"/>
        <c:axId val="233859744"/>
        <c:axId val="243918256"/>
        <c:axId val="0"/>
      </c:bar3DChart>
      <c:catAx>
        <c:axId val="23385974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918256"/>
        <c:crosses val="autoZero"/>
        <c:auto val="1"/>
        <c:lblAlgn val="ctr"/>
        <c:lblOffset val="100"/>
        <c:noMultiLvlLbl val="0"/>
      </c:catAx>
      <c:valAx>
        <c:axId val="2439182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33859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6350" cap="flat" cmpd="sng" algn="ctr">
      <a:solidFill>
        <a:schemeClr val="dk1">
          <a:tint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Total_revenue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'1.'!$C$1</c:f>
              <c:strCache>
                <c:ptCount val="1"/>
                <c:pt idx="0">
                  <c:v>total_revenue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'1.'!$A$2:$B$7</c:f>
              <c:multiLvlStrCache>
                <c:ptCount val="6"/>
                <c:lvl>
                  <c:pt idx="0">
                    <c:v>Online</c:v>
                  </c:pt>
                  <c:pt idx="1">
                    <c:v>Offline</c:v>
                  </c:pt>
                  <c:pt idx="2">
                    <c:v>Online</c:v>
                  </c:pt>
                  <c:pt idx="3">
                    <c:v>Offline</c:v>
                  </c:pt>
                  <c:pt idx="4">
                    <c:v>Online</c:v>
                  </c:pt>
                  <c:pt idx="5">
                    <c:v>Offline</c:v>
                  </c:pt>
                </c:lvl>
                <c:lvl>
                  <c:pt idx="0">
                    <c:v>2022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'1.'!$C$2:$C$7</c:f>
              <c:numCache>
                <c:formatCode>General</c:formatCode>
                <c:ptCount val="6"/>
                <c:pt idx="0">
                  <c:v>141504.679999999</c:v>
                </c:pt>
                <c:pt idx="1">
                  <c:v>151966.98000000001</c:v>
                </c:pt>
                <c:pt idx="2">
                  <c:v>141472.65</c:v>
                </c:pt>
                <c:pt idx="3">
                  <c:v>146565.21999999901</c:v>
                </c:pt>
                <c:pt idx="4">
                  <c:v>140939.4</c:v>
                </c:pt>
                <c:pt idx="5">
                  <c:v>145225.079999999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234324808"/>
        <c:axId val="233851640"/>
      </c:barChart>
      <c:catAx>
        <c:axId val="23432480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3851640"/>
        <c:crosses val="autoZero"/>
        <c:auto val="1"/>
        <c:lblAlgn val="ctr"/>
        <c:lblOffset val="100"/>
        <c:noMultiLvlLbl val="0"/>
      </c:catAx>
      <c:valAx>
        <c:axId val="23385164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324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[1..csv]1.!PivotTable1</c:name>
    <c:fmtId val="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'1.'!$I$4:$I$5</c:f>
              <c:strCache>
                <c:ptCount val="1"/>
                <c:pt idx="0">
                  <c:v>2022</c:v>
                </c:pt>
              </c:strCache>
            </c:strRef>
          </c:tx>
          <c:spPr>
            <a:gradFill>
              <a:gsLst>
                <a:gs pos="100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'1.'!$H$6:$H$11</c:f>
              <c:strCache>
                <c:ptCount val="5"/>
                <c:pt idx="0">
                  <c:v>Ali</c:v>
                </c:pt>
                <c:pt idx="1">
                  <c:v>Anita</c:v>
                </c:pt>
                <c:pt idx="2">
                  <c:v>Meena</c:v>
                </c:pt>
                <c:pt idx="3">
                  <c:v>Raj</c:v>
                </c:pt>
                <c:pt idx="4">
                  <c:v>Sunil</c:v>
                </c:pt>
              </c:strCache>
            </c:strRef>
          </c:cat>
          <c:val>
            <c:numRef>
              <c:f>'1.'!$I$6:$I$11</c:f>
              <c:numCache>
                <c:formatCode>General</c:formatCode>
                <c:ptCount val="5"/>
                <c:pt idx="0">
                  <c:v>68676.959999999905</c:v>
                </c:pt>
                <c:pt idx="1">
                  <c:v>53459.29</c:v>
                </c:pt>
                <c:pt idx="2">
                  <c:v>63513.27</c:v>
                </c:pt>
                <c:pt idx="3">
                  <c:v>56185.72</c:v>
                </c:pt>
                <c:pt idx="4">
                  <c:v>51636.419999999896</c:v>
                </c:pt>
              </c:numCache>
            </c:numRef>
          </c:val>
        </c:ser>
        <c:ser>
          <c:idx val="1"/>
          <c:order val="1"/>
          <c:tx>
            <c:strRef>
              <c:f>'1.'!$J$4:$J$5</c:f>
              <c:strCache>
                <c:ptCount val="1"/>
                <c:pt idx="0">
                  <c:v>2023</c:v>
                </c:pt>
              </c:strCache>
            </c:strRef>
          </c:tx>
          <c:spPr>
            <a:gradFill>
              <a:gsLst>
                <a:gs pos="100000">
                  <a:schemeClr val="accent2">
                    <a:alpha val="0"/>
                  </a:schemeClr>
                </a:gs>
                <a:gs pos="50000">
                  <a:schemeClr val="accent2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'1.'!$H$6:$H$11</c:f>
              <c:strCache>
                <c:ptCount val="5"/>
                <c:pt idx="0">
                  <c:v>Ali</c:v>
                </c:pt>
                <c:pt idx="1">
                  <c:v>Anita</c:v>
                </c:pt>
                <c:pt idx="2">
                  <c:v>Meena</c:v>
                </c:pt>
                <c:pt idx="3">
                  <c:v>Raj</c:v>
                </c:pt>
                <c:pt idx="4">
                  <c:v>Sunil</c:v>
                </c:pt>
              </c:strCache>
            </c:strRef>
          </c:cat>
          <c:val>
            <c:numRef>
              <c:f>'1.'!$J$6:$J$11</c:f>
              <c:numCache>
                <c:formatCode>General</c:formatCode>
                <c:ptCount val="5"/>
                <c:pt idx="0">
                  <c:v>53563.31</c:v>
                </c:pt>
                <c:pt idx="1">
                  <c:v>57643.979999999901</c:v>
                </c:pt>
                <c:pt idx="2">
                  <c:v>56729.099999999897</c:v>
                </c:pt>
                <c:pt idx="3">
                  <c:v>66479.649999999907</c:v>
                </c:pt>
                <c:pt idx="4">
                  <c:v>53621.83</c:v>
                </c:pt>
              </c:numCache>
            </c:numRef>
          </c:val>
        </c:ser>
        <c:ser>
          <c:idx val="2"/>
          <c:order val="2"/>
          <c:tx>
            <c:strRef>
              <c:f>'1.'!$K$4:$K$5</c:f>
              <c:strCache>
                <c:ptCount val="1"/>
                <c:pt idx="0">
                  <c:v>2024</c:v>
                </c:pt>
              </c:strCache>
            </c:strRef>
          </c:tx>
          <c:spPr>
            <a:gradFill>
              <a:gsLst>
                <a:gs pos="100000">
                  <a:schemeClr val="accent3">
                    <a:alpha val="0"/>
                  </a:schemeClr>
                </a:gs>
                <a:gs pos="50000">
                  <a:schemeClr val="accent3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'1.'!$H$6:$H$11</c:f>
              <c:strCache>
                <c:ptCount val="5"/>
                <c:pt idx="0">
                  <c:v>Ali</c:v>
                </c:pt>
                <c:pt idx="1">
                  <c:v>Anita</c:v>
                </c:pt>
                <c:pt idx="2">
                  <c:v>Meena</c:v>
                </c:pt>
                <c:pt idx="3">
                  <c:v>Raj</c:v>
                </c:pt>
                <c:pt idx="4">
                  <c:v>Sunil</c:v>
                </c:pt>
              </c:strCache>
            </c:strRef>
          </c:cat>
          <c:val>
            <c:numRef>
              <c:f>'1.'!$K$6:$K$11</c:f>
              <c:numCache>
                <c:formatCode>General</c:formatCode>
                <c:ptCount val="5"/>
                <c:pt idx="0">
                  <c:v>58308.5</c:v>
                </c:pt>
                <c:pt idx="1">
                  <c:v>64763.309999999903</c:v>
                </c:pt>
                <c:pt idx="2">
                  <c:v>55328.729999999901</c:v>
                </c:pt>
                <c:pt idx="3">
                  <c:v>55423.929999999898</c:v>
                </c:pt>
                <c:pt idx="4">
                  <c:v>52340.0099999999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0"/>
        <c:shape val="box"/>
        <c:axId val="233850856"/>
        <c:axId val="233854384"/>
        <c:axId val="0"/>
      </c:bar3DChart>
      <c:catAx>
        <c:axId val="233850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3854384"/>
        <c:crosses val="autoZero"/>
        <c:auto val="1"/>
        <c:lblAlgn val="ctr"/>
        <c:lblOffset val="100"/>
        <c:noMultiLvlLbl val="0"/>
      </c:catAx>
      <c:valAx>
        <c:axId val="233854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3850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 que.csv]6 que!PivotTable1</c:name>
    <c:fmtId val="23"/>
  </c:pivotSource>
  <c:chart>
    <c:autoTitleDeleted val="1"/>
    <c:pivotFmts>
      <c:pivotFmt>
        <c:idx val="0"/>
        <c:spPr>
          <a:solidFill>
            <a:schemeClr val="accent1">
              <a:alpha val="88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flat">
            <a:contourClr>
              <a:schemeClr val="accent1">
                <a:lumMod val="50000"/>
              </a:schemeClr>
            </a:contourClr>
          </a:sp3d>
        </c:spPr>
        <c:marker>
          <c:symbol val="circle"/>
          <c:size val="6"/>
          <c:spPr>
            <a:solidFill>
              <a:schemeClr val="accent1"/>
            </a:solidFill>
            <a:ln w="9525">
              <a:solidFill>
                <a:schemeClr val="dk1">
                  <a:lumMod val="75000"/>
                  <a:lumOff val="25000"/>
                </a:schemeClr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solidFill>
              <a:srgbClr val="5B9BD5">
                <a:alpha val="30000"/>
              </a:srgbClr>
            </a:solidFill>
            <a:ln>
              <a:solidFill>
                <a:sysClr val="window" lastClr="FFFFFF">
                  <a:alpha val="50000"/>
                </a:sysClr>
              </a:solidFill>
              <a:round/>
            </a:ln>
            <a:effectLst>
              <a:outerShdw blurRad="63500" dist="889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8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flat">
            <a:contourClr>
              <a:schemeClr val="accent1">
                <a:lumMod val="50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rgbClr val="5B9BD5">
                <a:alpha val="30000"/>
              </a:srgbClr>
            </a:solidFill>
            <a:ln>
              <a:solidFill>
                <a:sysClr val="window" lastClr="FFFFFF">
                  <a:alpha val="50000"/>
                </a:sysClr>
              </a:solidFill>
              <a:round/>
            </a:ln>
            <a:effectLst>
              <a:outerShdw blurRad="63500" dist="889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8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flat">
            <a:contourClr>
              <a:schemeClr val="accent1">
                <a:lumMod val="50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rgbClr val="5B9BD5">
                <a:alpha val="30000"/>
              </a:srgbClr>
            </a:solidFill>
            <a:ln>
              <a:solidFill>
                <a:sysClr val="window" lastClr="FFFFFF">
                  <a:alpha val="50000"/>
                </a:sysClr>
              </a:solidFill>
              <a:round/>
            </a:ln>
            <a:effectLst>
              <a:outerShdw blurRad="63500" dist="889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'6 que'!$N$6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 que'!$M$7:$M$12</c:f>
              <c:strCache>
                <c:ptCount val="5"/>
                <c:pt idx="0">
                  <c:v>Ali</c:v>
                </c:pt>
                <c:pt idx="1">
                  <c:v>Anita</c:v>
                </c:pt>
                <c:pt idx="2">
                  <c:v>Meena</c:v>
                </c:pt>
                <c:pt idx="3">
                  <c:v>Raj</c:v>
                </c:pt>
                <c:pt idx="4">
                  <c:v>Sunil</c:v>
                </c:pt>
              </c:strCache>
            </c:strRef>
          </c:cat>
          <c:val>
            <c:numRef>
              <c:f>'6 que'!$N$7:$N$12</c:f>
              <c:numCache>
                <c:formatCode>General</c:formatCode>
                <c:ptCount val="5"/>
                <c:pt idx="0">
                  <c:v>83.19</c:v>
                </c:pt>
                <c:pt idx="1">
                  <c:v>81.009999999999991</c:v>
                </c:pt>
                <c:pt idx="2">
                  <c:v>80.839999999999989</c:v>
                </c:pt>
                <c:pt idx="3">
                  <c:v>82.1</c:v>
                </c:pt>
                <c:pt idx="4">
                  <c:v>72.86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33855560"/>
        <c:axId val="233848504"/>
        <c:axId val="0"/>
      </c:bar3DChart>
      <c:catAx>
        <c:axId val="233855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3848504"/>
        <c:crosses val="autoZero"/>
        <c:auto val="1"/>
        <c:lblAlgn val="ctr"/>
        <c:lblOffset val="100"/>
        <c:noMultiLvlLbl val="0"/>
      </c:catAx>
      <c:valAx>
        <c:axId val="233848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3855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671834625322998E-2"/>
          <c:y val="0.15698808802745809"/>
          <c:w val="0.9431524547803618"/>
          <c:h val="0.717447607510599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'9'!$A$2</c:f>
              <c:strCache>
                <c:ptCount val="1"/>
                <c:pt idx="0">
                  <c:v>Raisins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'9'!$B$1:$C$1</c:f>
              <c:strCache>
                <c:ptCount val="2"/>
                <c:pt idx="0">
                  <c:v>Online_Revenue</c:v>
                </c:pt>
                <c:pt idx="1">
                  <c:v>Offline_Revenue</c:v>
                </c:pt>
              </c:strCache>
            </c:strRef>
          </c:cat>
          <c:val>
            <c:numRef>
              <c:f>'9'!$B$2:$C$2</c:f>
              <c:numCache>
                <c:formatCode>General</c:formatCode>
                <c:ptCount val="2"/>
                <c:pt idx="0">
                  <c:v>83798.559999999998</c:v>
                </c:pt>
                <c:pt idx="1">
                  <c:v>79657.889999999898</c:v>
                </c:pt>
              </c:numCache>
            </c:numRef>
          </c:val>
        </c:ser>
        <c:ser>
          <c:idx val="1"/>
          <c:order val="1"/>
          <c:tx>
            <c:strRef>
              <c:f>'9'!$A$3</c:f>
              <c:strCache>
                <c:ptCount val="1"/>
                <c:pt idx="0">
                  <c:v>Cashews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'9'!$B$1:$C$1</c:f>
              <c:strCache>
                <c:ptCount val="2"/>
                <c:pt idx="0">
                  <c:v>Online_Revenue</c:v>
                </c:pt>
                <c:pt idx="1">
                  <c:v>Offline_Revenue</c:v>
                </c:pt>
              </c:strCache>
            </c:strRef>
          </c:cat>
          <c:val>
            <c:numRef>
              <c:f>'9'!$B$3:$C$3</c:f>
              <c:numCache>
                <c:formatCode>General</c:formatCode>
                <c:ptCount val="2"/>
                <c:pt idx="0">
                  <c:v>87994.9</c:v>
                </c:pt>
                <c:pt idx="1">
                  <c:v>83161.63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233852424"/>
        <c:axId val="233853208"/>
      </c:barChart>
      <c:catAx>
        <c:axId val="233852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3853208"/>
        <c:crosses val="autoZero"/>
        <c:auto val="1"/>
        <c:lblAlgn val="ctr"/>
        <c:lblOffset val="100"/>
        <c:noMultiLvlLbl val="0"/>
      </c:catAx>
      <c:valAx>
        <c:axId val="2338532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33852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1">
  <cs:axisTitle>
    <cs:lnRef idx="0"/>
    <cs:fillRef idx="0"/>
    <cs:effectRef idx="0"/>
    <cs:fontRef idx="minor">
      <a:schemeClr val="lt1">
        <a:lumMod val="75000"/>
      </a:schemeClr>
    </cs:fontRef>
    <cs:defRPr sz="1197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6350" cap="flat" cmpd="sng" algn="ctr">
        <a:solidFill>
          <a:schemeClr val="dk1">
            <a:tint val="75000"/>
          </a:schemeClr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1197" b="1" i="0" u="none" strike="noStrike" kern="1200" baseline="0"/>
  </cs:dataLabel>
  <cs:dataLabelCallout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1197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  <a:scene3d>
        <a:camera prst="orthographicFront"/>
        <a:lightRig rig="threePt" dir="t"/>
      </a:scene3d>
      <a:sp3d prstMaterial="flat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dk1">
            <a:lumMod val="75000"/>
            <a:lumOff val="2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bg2">
          <a:lumMod val="75000"/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>
        <a:solidFill>
          <a:schemeClr val="lt1">
            <a:lumMod val="50000"/>
          </a:schemeClr>
        </a:solidFill>
      </a:ln>
    </cs:spPr>
  </cs:gridlineMajor>
  <cs:gridlineMinor>
    <cs:lnRef idx="0"/>
    <cs:fillRef idx="0"/>
    <cs:effectRef idx="0"/>
    <cs:fontRef idx="minor">
      <a:schemeClr val="tx1"/>
    </cs:fontRef>
    <cs:spPr>
      <a:ln w="9525">
        <a:solidFill>
          <a:schemeClr val="lt1">
            <a:lumMod val="4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/>
    </cs:fontRef>
    <cs:defRPr sz="2200" b="0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37129" y="917445"/>
            <a:ext cx="8624048" cy="4948517"/>
          </a:xfrm>
        </p:spPr>
        <p:txBody>
          <a:bodyPr/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ln w="12700">
                  <a:solidFill>
                    <a:schemeClr val="bg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MY SQL</a:t>
            </a:r>
            <a:r>
              <a:rPr lang="en-US" sz="36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spc="5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z="6000" b="1" spc="5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Sales Data</a:t>
            </a:r>
            <a:br>
              <a:rPr lang="en-US" sz="6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Report</a:t>
            </a:r>
            <a:endParaRPr lang="en-IN" sz="6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inus 2"/>
          <p:cNvSpPr/>
          <p:nvPr/>
        </p:nvSpPr>
        <p:spPr>
          <a:xfrm>
            <a:off x="268941" y="416858"/>
            <a:ext cx="466164" cy="349623"/>
          </a:xfrm>
          <a:prstGeom prst="mathMin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 Placeholder 9"/>
          <p:cNvSpPr>
            <a:spLocks noGrp="1"/>
          </p:cNvSpPr>
          <p:nvPr>
            <p:ph type="body" idx="4294967295"/>
          </p:nvPr>
        </p:nvSpPr>
        <p:spPr>
          <a:xfrm>
            <a:off x="10179171" y="5865962"/>
            <a:ext cx="4385094" cy="2161188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Vivek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onut 1"/>
          <p:cNvSpPr/>
          <p:nvPr/>
        </p:nvSpPr>
        <p:spPr>
          <a:xfrm>
            <a:off x="268941" y="385482"/>
            <a:ext cx="161365" cy="412377"/>
          </a:xfrm>
          <a:prstGeom prst="donu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6823" y="416858"/>
            <a:ext cx="2303929" cy="34962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7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1078302"/>
            <a:ext cx="5901338" cy="836762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transactional sales data that records product-wise and region-wise performance across different sales channels and customer segments. The goal is to analyze this data to uncover insights about sales trends, product performance, and revenue generation patterns over time.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this analysis aims to identify: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and regions contribute most to total revenue.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sales vary by channel (online vs. offline) and customer type.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individual salespersons.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or time-based sales patterns that could inform future planning.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problem focuses on developing a data-driven understanding of overall sales performance, supporting decisions related to marketing strategies, inventory management, and resource allocation.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63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53" y="934592"/>
            <a:ext cx="8911957" cy="1393335"/>
          </a:xfrm>
        </p:spPr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to display total sales revenue for each year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year(date),sum(Revenue)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sale group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year(date);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910" y="3742659"/>
            <a:ext cx="4040829" cy="1855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566807"/>
              </p:ext>
            </p:extLst>
          </p:nvPr>
        </p:nvGraphicFramePr>
        <p:xfrm>
          <a:off x="5768196" y="248009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362454"/>
              </p:ext>
            </p:extLst>
          </p:nvPr>
        </p:nvGraphicFramePr>
        <p:xfrm>
          <a:off x="6009736" y="329097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ight Arrow 6"/>
          <p:cNvSpPr/>
          <p:nvPr/>
        </p:nvSpPr>
        <p:spPr>
          <a:xfrm>
            <a:off x="629729" y="2536166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42499"/>
            <a:ext cx="9404723" cy="1400530"/>
          </a:xfrm>
        </p:spPr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2.Retrieve the top 3 products based on total units sold across all 3 years.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Product,sum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Units_Sold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total_Unitsold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sale group by Product order by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total_Unitsold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desclimit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97" y="4276135"/>
            <a:ext cx="3920488" cy="18054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ight Arrow 4"/>
          <p:cNvSpPr/>
          <p:nvPr/>
        </p:nvSpPr>
        <p:spPr>
          <a:xfrm>
            <a:off x="368792" y="2861970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9101245"/>
              </p:ext>
            </p:extLst>
          </p:nvPr>
        </p:nvGraphicFramePr>
        <p:xfrm>
          <a:off x="5457644" y="3562710"/>
          <a:ext cx="5195978" cy="264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7610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3.Display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revenue generated from each Sales Channel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year(date),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Channel,sum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(Revenue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sale group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year(date),Channel;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94" y="3813721"/>
            <a:ext cx="4449382" cy="2155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ight Arrow 3"/>
          <p:cNvSpPr/>
          <p:nvPr/>
        </p:nvSpPr>
        <p:spPr>
          <a:xfrm>
            <a:off x="646111" y="2536166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9111050"/>
              </p:ext>
            </p:extLst>
          </p:nvPr>
        </p:nvGraphicFramePr>
        <p:xfrm>
          <a:off x="5794076" y="33427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0568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4.List the top-performing salesperson for each year based 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revenue.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salesperson, years ,sum(Revenue)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sale group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years,salesperson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922" y="3040110"/>
            <a:ext cx="3188174" cy="34297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1796231"/>
              </p:ext>
            </p:extLst>
          </p:nvPr>
        </p:nvGraphicFramePr>
        <p:xfrm>
          <a:off x="5052204" y="3265098"/>
          <a:ext cx="4998630" cy="2885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ight Arrow 6"/>
          <p:cNvSpPr/>
          <p:nvPr/>
        </p:nvSpPr>
        <p:spPr>
          <a:xfrm>
            <a:off x="490836" y="2053087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60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5.Using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window function, rank the products by revenue within each region.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Region,Product,sum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(Revenue)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total_revenue,rank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over(partition by Region order by sum(Revenue)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rank_wise_region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from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Region,Product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115" y="3291551"/>
            <a:ext cx="3414056" cy="34445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ight Arrow 3"/>
          <p:cNvSpPr/>
          <p:nvPr/>
        </p:nvSpPr>
        <p:spPr>
          <a:xfrm>
            <a:off x="490836" y="2165230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56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6.Display each salesperson’s percent contribution to their region’s total sales using SUM() OVER.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salesperson, region, sum(revenue)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salesperson_revenue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 sum(sum(revenue)) over (partition by region)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region_total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 round(100 * sum(revenue) / sum(sum(revenue)) over (partition by region),  2    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percent_contributionfrom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sale group by salesperson, region;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310" y="3347049"/>
            <a:ext cx="4817871" cy="33829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ight Arrow 3"/>
          <p:cNvSpPr/>
          <p:nvPr/>
        </p:nvSpPr>
        <p:spPr>
          <a:xfrm>
            <a:off x="400258" y="2018581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1867356"/>
              </p:ext>
            </p:extLst>
          </p:nvPr>
        </p:nvGraphicFramePr>
        <p:xfrm>
          <a:off x="6448424" y="3448050"/>
          <a:ext cx="4486275" cy="27622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4202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7.Find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top-performing region based on total revenue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subquery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region, sum(revenue)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sale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region having sum(revenue) = (   select max(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region_total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from (   select region, sum(revenue)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region_total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from sale group by region ) t);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601" y="4029075"/>
            <a:ext cx="3703074" cy="876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ight Arrow 4"/>
          <p:cNvSpPr/>
          <p:nvPr/>
        </p:nvSpPr>
        <p:spPr>
          <a:xfrm>
            <a:off x="247858" y="1999531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8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8.Create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view that stores average revenue per channel per customer type, and query it to find which combination gives the highest average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view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channel_performance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channel,customer_type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(revenue)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avg_revenue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sale group by channel,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customer_type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284" y="3761118"/>
            <a:ext cx="6272598" cy="18201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ight Arrow 3"/>
          <p:cNvSpPr/>
          <p:nvPr/>
        </p:nvSpPr>
        <p:spPr>
          <a:xfrm>
            <a:off x="154406" y="2439478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4023328"/>
            <a:ext cx="4209080" cy="14544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699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.Find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that perform better in online than offline channels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 product,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sum(case when channel = 'online' then revenue else 0 end)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sum(case when channel = 'offline' then revenue else 0 end)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offline_revenue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sale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product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offline_revenue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28" y="4917057"/>
            <a:ext cx="4516284" cy="9747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660184"/>
              </p:ext>
            </p:extLst>
          </p:nvPr>
        </p:nvGraphicFramePr>
        <p:xfrm>
          <a:off x="6048375" y="4219575"/>
          <a:ext cx="49149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ight Arrow 5"/>
          <p:cNvSpPr/>
          <p:nvPr/>
        </p:nvSpPr>
        <p:spPr>
          <a:xfrm>
            <a:off x="154406" y="2008157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64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10.Identify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trends: find average monthly revenue by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seasonality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product,date_format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date,'%y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-%m')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y_month,avg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(revenue) as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average_revenue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sale group by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product,y_month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475" y="2835852"/>
            <a:ext cx="3290570" cy="36859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ight Arrow 4"/>
          <p:cNvSpPr/>
          <p:nvPr/>
        </p:nvSpPr>
        <p:spPr>
          <a:xfrm>
            <a:off x="154406" y="2051290"/>
            <a:ext cx="491705" cy="198408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28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696</TotalTime>
  <Words>194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Times New Roman</vt:lpstr>
      <vt:lpstr>Wingdings 3</vt:lpstr>
      <vt:lpstr>Ion</vt:lpstr>
      <vt:lpstr> MY SQL  Project  Sales Data   Report</vt:lpstr>
      <vt:lpstr>Problem Statement  </vt:lpstr>
      <vt:lpstr>1.Write a query to display total sales revenue for each year.  select year(date),sum(Revenue) as total_revenue from sale group by year(date);</vt:lpstr>
      <vt:lpstr>2.Retrieve the top 3 products based on total units sold across all 3 years.       select Product,sum(Units_Sold) as total_Unitsold from sale group by Product order by  total_Unitsold desclimit 3;</vt:lpstr>
      <vt:lpstr>3.Display year-wise revenue generated from each Sales Channel    select year(date),Channel,sum(Revenue) as total_revenue from sale group by year(date),Channel;</vt:lpstr>
      <vt:lpstr>4.List the top-performing salesperson for each year based on revenue.  select salesperson, years ,sum(Revenue) as total_revenue from sale group by years,salesperson;  </vt:lpstr>
      <vt:lpstr>5.Using a window function, rank the products by revenue within each region.            select Region,Product,sum(Revenue) as total_revenue,rank() over(partition by Region order by sum(Revenue) desc) as rank_wise_region  from sale  group by Region,Product ;</vt:lpstr>
      <vt:lpstr>6.Display each salesperson’s percent contribution to their region’s total sales using SUM() OVER.  select salesperson, region, sum(revenue) as salesperson_revenue,    sum(sum(revenue)) over (partition by region) as region_total,    round(100 * sum(revenue) / sum(sum(revenue)) over (partition by region),  2    ) as percent_contributionfrom sale group by salesperson, region;</vt:lpstr>
      <vt:lpstr>7.Find the top-performing region based on total revenue using a subquery.  select region, sum(revenue) as total_revenue from sale  group by region having sum(revenue) = (   select max(region_total)    from (   select region, sum(revenue) as region_total  from sale group by region ) t);</vt:lpstr>
      <vt:lpstr>8.Create a view that stores average revenue per channel per customer type, and query it to find which combination gives the highest average.  create view channel_performance as select channel,customer_type,  avg(revenue) as avg_revenue from sale group by channel, customer_type;</vt:lpstr>
      <vt:lpstr>9.Find products that perform better in online than offline channels.  select  product,     sum(case when channel = 'online' then revenue else 0 end) as online_revenue,     sum(case when channel = 'offline' then revenue else 0 end) as offline_revenue from sale group by product having online_revenue &gt; offline_revenue; </vt:lpstr>
      <vt:lpstr>10.Identify seasonal trends: find average monthly revenue by product to detect seasonality.  select product,date_format(date,'%y-%m') as y_month,avg(revenue) as average_revenue from sale group by product,y_month;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        Report</dc:title>
  <dc:creator>Microsoft account</dc:creator>
  <cp:lastModifiedBy>Microsoft account</cp:lastModifiedBy>
  <cp:revision>35</cp:revision>
  <dcterms:created xsi:type="dcterms:W3CDTF">2025-10-29T06:09:52Z</dcterms:created>
  <dcterms:modified xsi:type="dcterms:W3CDTF">2025-11-07T14:16:34Z</dcterms:modified>
</cp:coreProperties>
</file>